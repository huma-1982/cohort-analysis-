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Load Factor</c:v>
                </c:pt>
              </c:strCache>
            </c:strRef>
          </c:tx>
          <c:spPr>
            <a:solidFill>
              <a:srgbClr val="1C7293"/>
            </a:solidFill>
            <a:ln w="381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8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9.6</c:v>
                </c:pt>
                <c:pt idx="1">
                  <c:v>11.8</c:v>
                </c:pt>
                <c:pt idx="2">
                  <c:v>14</c:v>
                </c:pt>
                <c:pt idx="3">
                  <c:v>15.7</c:v>
                </c:pt>
                <c:pt idx="4">
                  <c:v>16.6</c:v>
                </c:pt>
                <c:pt idx="5">
                  <c:v>16.7</c:v>
                </c:pt>
                <c:pt idx="6">
                  <c:v>16.1</c:v>
                </c:pt>
                <c:pt idx="7">
                  <c:v>15.1</c:v>
                </c:pt>
                <c:pt idx="8">
                  <c:v>14</c:v>
                </c:pt>
                <c:pt idx="9">
                  <c:v>13.2</c:v>
                </c:pt>
                <c:pt idx="10">
                  <c:v>13.1</c:v>
                </c:pt>
                <c:pt idx="11">
                  <c:v>13.7</c:v>
                </c:pt>
                <c:pt idx="12">
                  <c:v>14.9</c:v>
                </c:pt>
                <c:pt idx="13">
                  <c:v>16.4</c:v>
                </c:pt>
                <c:pt idx="14">
                  <c:v>18</c:v>
                </c:pt>
                <c:pt idx="15">
                  <c:v>19.1</c:v>
                </c:pt>
                <c:pt idx="16">
                  <c:v>19.6</c:v>
                </c:pt>
                <c:pt idx="17">
                  <c:v>19.3</c:v>
                </c:pt>
                <c:pt idx="18">
                  <c:v>18.3</c:v>
                </c:pt>
                <c:pt idx="19">
                  <c:v>17</c:v>
                </c:pt>
                <c:pt idx="20">
                  <c:v>15.7</c:v>
                </c:pt>
                <c:pt idx="21">
                  <c:v>14.7</c:v>
                </c:pt>
                <c:pt idx="22">
                  <c:v>14.3</c:v>
                </c:pt>
                <c:pt idx="23">
                  <c:v>14.8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Break-Even Threshold (18.0%)</c:v>
                </c:pt>
              </c:strCache>
            </c:strRef>
          </c:tx>
          <c:spPr>
            <a:solidFill>
              <a:srgbClr val="F2A541"/>
            </a:solidFill>
            <a:ln w="3810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83D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18</c:v>
                </c:pt>
                <c:pt idx="11">
                  <c:v>18</c:v>
                </c:pt>
                <c:pt idx="12">
                  <c:v>18</c:v>
                </c:pt>
                <c:pt idx="13">
                  <c:v>18</c:v>
                </c:pt>
                <c:pt idx="14">
                  <c:v>18</c:v>
                </c:pt>
                <c:pt idx="15">
                  <c:v>18</c:v>
                </c:pt>
                <c:pt idx="16">
                  <c:v>18</c:v>
                </c:pt>
                <c:pt idx="17">
                  <c:v>18</c:v>
                </c:pt>
                <c:pt idx="18">
                  <c:v>18</c:v>
                </c:pt>
                <c:pt idx="19">
                  <c:v>18</c:v>
                </c:pt>
                <c:pt idx="20">
                  <c:v>18</c:v>
                </c:pt>
                <c:pt idx="21">
                  <c:v>18</c:v>
                </c:pt>
                <c:pt idx="22">
                  <c:v>18</c:v>
                </c:pt>
                <c:pt idx="23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83D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080"/>
                    </a:solidFill>
                    <a:latin typeface="Arial"/>
                  </a:rPr>
                  <a:t>Load Factor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3F8F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106495</c:v>
                </c:pt>
                <c:pt idx="16">
                  <c:v>152743</c:v>
                </c:pt>
                <c:pt idx="17">
                  <c:v>124737</c:v>
                </c:pt>
                <c:pt idx="18">
                  <c:v>32426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Loss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-817689</c:v>
                </c:pt>
                <c:pt idx="1">
                  <c:v>-598268</c:v>
                </c:pt>
                <c:pt idx="2">
                  <c:v>-389934</c:v>
                </c:pt>
                <c:pt idx="3">
                  <c:v>-227689</c:v>
                </c:pt>
                <c:pt idx="4">
                  <c:v>-136954</c:v>
                </c:pt>
                <c:pt idx="5">
                  <c:v>-126394</c:v>
                </c:pt>
                <c:pt idx="6">
                  <c:v>-185274</c:v>
                </c:pt>
                <c:pt idx="7">
                  <c:v>-286058</c:v>
                </c:pt>
                <c:pt idx="8">
                  <c:v>-391548</c:v>
                </c:pt>
                <c:pt idx="9">
                  <c:v>-464640</c:v>
                </c:pt>
                <c:pt idx="10">
                  <c:v>-478090</c:v>
                </c:pt>
                <c:pt idx="11">
                  <c:v>-421653</c:v>
                </c:pt>
                <c:pt idx="12">
                  <c:v>-304696</c:v>
                </c:pt>
                <c:pt idx="13">
                  <c:v>-153565</c:v>
                </c:pt>
                <c:pt idx="14">
                  <c:v>-4431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-97339</c:v>
                </c:pt>
                <c:pt idx="20">
                  <c:v>-227951</c:v>
                </c:pt>
                <c:pt idx="21">
                  <c:v>-322822</c:v>
                </c:pt>
                <c:pt idx="22">
                  <c:v>-355151</c:v>
                </c:pt>
                <c:pt idx="23">
                  <c:v>-315080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080"/>
                    </a:solidFill>
                    <a:latin typeface="Arial"/>
                  </a:rPr>
                  <a:t>Monthly Operating Profit / (Loss)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</c:v>
                </c:pt>
              </c:strCache>
            </c:strRef>
          </c:tx>
          <c:spPr>
            <a:solidFill>
              <a:srgbClr val="C1443C"/>
            </a:solidFill>
            <a:ln w="38100" cap="flat">
              <a:solidFill>
                <a:srgbClr val="C144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1443C"/>
              </a:solidFill>
              <a:ln w="9525" cap="flat">
                <a:solidFill>
                  <a:srgbClr val="C144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-817689</c:v>
                </c:pt>
                <c:pt idx="1">
                  <c:v>-1415957</c:v>
                </c:pt>
                <c:pt idx="2">
                  <c:v>-1805891</c:v>
                </c:pt>
                <c:pt idx="3">
                  <c:v>-2033580</c:v>
                </c:pt>
                <c:pt idx="4">
                  <c:v>-2170534</c:v>
                </c:pt>
                <c:pt idx="5">
                  <c:v>-2296929</c:v>
                </c:pt>
                <c:pt idx="6">
                  <c:v>-2482203</c:v>
                </c:pt>
                <c:pt idx="7">
                  <c:v>-2768261</c:v>
                </c:pt>
                <c:pt idx="8">
                  <c:v>-3159809</c:v>
                </c:pt>
                <c:pt idx="9">
                  <c:v>-3624449</c:v>
                </c:pt>
                <c:pt idx="10">
                  <c:v>-4102539</c:v>
                </c:pt>
                <c:pt idx="11">
                  <c:v>-4524193</c:v>
                </c:pt>
                <c:pt idx="12">
                  <c:v>-4828888</c:v>
                </c:pt>
                <c:pt idx="13">
                  <c:v>-4982453</c:v>
                </c:pt>
                <c:pt idx="14">
                  <c:v>-4986885</c:v>
                </c:pt>
                <c:pt idx="15">
                  <c:v>-4880390</c:v>
                </c:pt>
                <c:pt idx="16">
                  <c:v>-4727647</c:v>
                </c:pt>
                <c:pt idx="17">
                  <c:v>-4602909</c:v>
                </c:pt>
                <c:pt idx="18">
                  <c:v>-4570483</c:v>
                </c:pt>
                <c:pt idx="19">
                  <c:v>-4667822</c:v>
                </c:pt>
                <c:pt idx="20">
                  <c:v>-4895772</c:v>
                </c:pt>
                <c:pt idx="21">
                  <c:v>-5218594</c:v>
                </c:pt>
                <c:pt idx="22">
                  <c:v>-5573745</c:v>
                </c:pt>
                <c:pt idx="23">
                  <c:v>-5888825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 Case</c:v>
                </c:pt>
              </c:strCache>
            </c:strRef>
          </c:tx>
          <c:spPr>
            <a:solidFill>
              <a:srgbClr val="3F8F5F"/>
            </a:solidFill>
            <a:ln w="38100" cap="flat">
              <a:solidFill>
                <a:srgbClr val="3F8F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8F5F"/>
              </a:solidFill>
              <a:ln w="9525" cap="flat">
                <a:solidFill>
                  <a:srgbClr val="3F8F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  <c:pt idx="18">
                    <c:v>M19</c:v>
                  </c:pt>
                  <c:pt idx="19">
                    <c:v>M20</c:v>
                  </c:pt>
                  <c:pt idx="20">
                    <c:v>M21</c:v>
                  </c:pt>
                  <c:pt idx="21">
                    <c:v>M22</c:v>
                  </c:pt>
                  <c:pt idx="22">
                    <c:v>M23</c:v>
                  </c:pt>
                  <c:pt idx="23">
                    <c:v>M24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-777856</c:v>
                </c:pt>
                <c:pt idx="1">
                  <c:v>-1301759</c:v>
                </c:pt>
                <c:pt idx="2">
                  <c:v>-1587396</c:v>
                </c:pt>
                <c:pt idx="3">
                  <c:v>-1684838</c:v>
                </c:pt>
                <c:pt idx="4">
                  <c:v>-1669050</c:v>
                </c:pt>
                <c:pt idx="5">
                  <c:v>-1623203</c:v>
                </c:pt>
                <c:pt idx="6">
                  <c:v>-1619331</c:v>
                </c:pt>
                <c:pt idx="7">
                  <c:v>-1701590</c:v>
                </c:pt>
                <c:pt idx="8">
                  <c:v>-1876635</c:v>
                </c:pt>
                <c:pt idx="9">
                  <c:v>-2113760</c:v>
                </c:pt>
                <c:pt idx="10">
                  <c:v>-2354789</c:v>
                </c:pt>
                <c:pt idx="11">
                  <c:v>-2531106</c:v>
                </c:pt>
                <c:pt idx="12">
                  <c:v>-2583292</c:v>
                </c:pt>
                <c:pt idx="13">
                  <c:v>-2478128</c:v>
                </c:pt>
                <c:pt idx="14">
                  <c:v>-2218440</c:v>
                </c:pt>
                <c:pt idx="15">
                  <c:v>-1843152</c:v>
                </c:pt>
                <c:pt idx="16">
                  <c:v>-1417566</c:v>
                </c:pt>
                <c:pt idx="17">
                  <c:v>-1016472</c:v>
                </c:pt>
                <c:pt idx="18">
                  <c:v>-704646</c:v>
                </c:pt>
                <c:pt idx="19">
                  <c:v>-519945</c:v>
                </c:pt>
                <c:pt idx="20">
                  <c:v>-463569</c:v>
                </c:pt>
                <c:pt idx="21">
                  <c:v>-500081</c:v>
                </c:pt>
                <c:pt idx="22">
                  <c:v>-567202</c:v>
                </c:pt>
                <c:pt idx="23">
                  <c:v>-592763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7080"/>
                    </a:solidFill>
                    <a:latin typeface="Arial"/>
                  </a:rPr>
                  <a:t>Cumulative Operating Cash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23A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ANALYSIS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Break-Even Ramp-Up  —  Monthly Cohorts, Months 1–24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(BOS) → London (LHR)  ·  Boeing 787-9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32918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Financial Planning &amp; Analysis (FP&amp;A)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analysis to the Six-Model Investment Appraisal Workbook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Cohort Analysis?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static break-even number into a month-by-month operating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035040" cy="4480560"/>
          </a:xfrm>
          <a:prstGeom prst="rect">
            <a:avLst/>
          </a:prstGeom>
          <a:solidFill>
            <a:srgbClr val="E7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Break-Even Analysis tab tells us the route needs an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18.0% average annual load factor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cover costs — a single, static number.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new route opens at its mature load factor. It ramps up over its first 18–24 months, and demand is seasonal.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 tracks each monthly “cohort” since launch against the break-even threshold — revealing not just whether the route works, but </a:t>
            </a:r>
            <a:pPr indent="0" marL="0">
              <a:lnSpc>
                <a:spcPct val="125000"/>
              </a:lnSpc>
              <a:buNone/>
            </a:pPr>
            <a:r>
              <a:rPr lang="en-US" sz="14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and under what conditions.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995160" y="1554480"/>
            <a:ext cx="502920" cy="5029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16733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Monthly Cohorts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35240" y="181051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route performance by month-since-launch (M1–M24), not calendar month.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95160" y="2670048"/>
            <a:ext cx="502920" cy="5029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2788920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624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 the Ramp Curve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35240" y="292608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climbs from a soft-launch ~10% toward a modeled mature average via a standard adoption curve.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995160" y="3785616"/>
            <a:ext cx="502920" cy="5029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90448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37398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Layer in Seasonality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635240" y="4041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Transatlantic leisure demand peaks in summer and troughs in winter — modeled as a ±2.8pt swing.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995160" y="4901184"/>
            <a:ext cx="502920" cy="50292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5020056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35240" y="48554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to Threshold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635240" y="515721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cohort month is measured against the 18.0% break-even load factor from the base model.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Model Assumptions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cost &amp; revenue drivers as the Break-Even Analysis tab, applied on a monthly cadence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4297680"/>
                <a:gridCol w="164592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Logic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Break-even load factor (annual)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Carried forward from Break-Even Analysis 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 launch load factor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soft-launch ramp for a new long-haul route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 mature load factor (base case)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Assumptions!C15 revenue ÷ avg fare, base commercial forecast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speed (time constant)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Adoption-curve steepness, comparable long-haul launches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swing (peak ↔ trough)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±2.8 pts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peak (Jun–Aug) vs. winter trough (Dec–Feb), transatlantic leisure mix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fixed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$1.75mm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fixed cost $21.0mm ÷ 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cost per passenger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Break-Even Analysis tab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fare per passenger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Break-Even Analysis / CLV tabs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seat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≈18,007 seats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 seats × 365 round trips × 2 legs ÷ 12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Factor Ramp-Up vs. Break-Even Threshold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cohorts M1–M24 — base case (17.4% mature load factor)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7724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417320"/>
            <a:ext cx="3108960" cy="1417320"/>
          </a:xfrm>
          <a:prstGeom prst="rect">
            <a:avLst/>
          </a:prstGeom>
          <a:solidFill>
            <a:srgbClr val="E7F1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7824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78240" y="181051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cohort to reach the 18.0% break-even load factor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49640" y="3017520"/>
            <a:ext cx="3108960" cy="1417320"/>
          </a:xfrm>
          <a:prstGeom prst="rect">
            <a:avLst/>
          </a:prstGeom>
          <a:solidFill>
            <a:srgbClr val="E7F1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0" y="31363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16–19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78240" y="3410712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peak pushes load factor to 19.6% — clears threshold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49640" y="4617720"/>
            <a:ext cx="3108960" cy="1600200"/>
          </a:xfrm>
          <a:prstGeom prst="rect">
            <a:avLst/>
          </a:prstGeom>
          <a:solidFill>
            <a:srgbClr val="FDF1E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808" y="47548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0" y="4782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20–24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778240" y="5074920"/>
            <a:ext cx="2697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trough drags load factor back under threshold to 14.3%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Operating Profit / (Loss) by Cohort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only turns a monthly operating profit during the Month 15–19 summer window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11155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Operating Cash Position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(17.4% mature load factor) vs. Upside case (20.5% — stronger commercial push)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417320"/>
            <a:ext cx="3017520" cy="2148840"/>
          </a:xfrm>
          <a:prstGeom prst="rect">
            <a:avLst/>
          </a:prstGeom>
          <a:solidFill>
            <a:srgbClr val="FBEAE8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69680" y="157276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CASE, MONTH 24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86968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-$5.9mm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869680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loss still widening — base case does not close within 24 months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80" y="3794760"/>
            <a:ext cx="3017520" cy="2148840"/>
          </a:xfrm>
          <a:prstGeom prst="rect">
            <a:avLst/>
          </a:prstGeom>
          <a:solidFill>
            <a:srgbClr val="E9F4E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0" y="39502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CASE, MONTH 24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69680" y="42062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-$0.6mm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869680" y="48463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break-even on a cumulative basis — on track to turn positive shortly after Month 24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Cohort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ramp-up as a timeline, not a single number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270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— Launch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18105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opens at a 9.6% load factor, typical of a soft long-haul launch with limited brand awareness.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53288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957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 — First Break-Even Cohort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6791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crosses the 18.0% threshold for the first time as the ramp curve matures.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015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6440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16–19 — Summer Peak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5478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pushes load factor to a cycle high of 19.6%, delivering the route's only sustained run of monthly profit.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2702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1330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20–24 — Winter Trough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4165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 falls back to 14.3–14.8%, erasing the summer gains and re-widening the cumulative loss.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E7F1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389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00176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24 — Structural Gap Remains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52852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operating position: –$5.9mm. The modeled mature average (17.4%) sits below break-even (18.0%) — so losses continue even at maturity, not just during ramp-up.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 &amp; Structural Risk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view surfaces a risk the static break-even number hides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66560" cy="4480560"/>
          </a:xfrm>
          <a:prstGeom prst="rect">
            <a:avLst/>
          </a:prstGeom>
          <a:solidFill>
            <a:srgbClr val="E7F1F6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static number hides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6217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Break-Even Analysis tab compares a full-year expected load factor (17.4%) to the annual break-even threshold (18.0%) — a gap of just 0.6 points.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isolation, that looks like a rounding error away from success.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 view shows the same 0.6-point gap actually means: 15 months of losses to reach break-even, only 4 months of profit at the summer peak, and a return to losses every winter — with no month in the 24-month window closing the cumulative deficit.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43800" y="1554480"/>
            <a:ext cx="4114800" cy="2148840"/>
          </a:xfrm>
          <a:prstGeom prst="rect">
            <a:avLst/>
          </a:prstGeom>
          <a:solidFill>
            <a:srgbClr val="FDF1E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556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11312" y="1783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0.6-POINT GAP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avg. load factor (17.4%) vs. break-even threshold (18.0%)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0" y="2697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to 36 months under base assumptions, the cumulative deficit widens to –$6.7mm — confirming this is a structural gap, not a ramp-up timing issue.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43800" y="3886200"/>
            <a:ext cx="4114800" cy="2148840"/>
          </a:xfrm>
          <a:prstGeom prst="rect">
            <a:avLst/>
          </a:prstGeom>
          <a:solidFill>
            <a:srgbClr val="E7F1F6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08736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11312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READ-THROUGH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0" y="4480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gaps to break-even compound into large, persistent cash drags once you unpack them month by month — exactly the kind of insight a single annual ratio can't show.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Comparison: Base vs. Upside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3.1-point improvement in mature load factor changes the outcome entirely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521208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(steady-state) load factor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18.0% break-even threshold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month of monthly operating 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monthly load factor (summer)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operating position, Month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-$5.9mm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-$0.6mm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 beyond Month 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Losses continue to widen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 to turn cash-positive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closes the gap: the Upside case assumes stronger loyalty-driven demand and revenue management — consistent with the Customer LTV tab's assumptions, not a change in cost structure.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BOS–LHR Route Cohort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4206240" cy="420624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clears NPV/IRR at the annual level — but the cohort view says commercial execution, not capital approval, is now the binding constraint.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49240" cy="1920240"/>
          </a:xfrm>
          <a:prstGeom prst="rect">
            <a:avLst/>
          </a:prstGeom>
          <a:solidFill>
            <a:srgbClr val="123A5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505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4231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0.6-point gap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revenue management and loyalty-driven demand to lift mature load factor from 17.4% toward the 20.5% upside case.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2194560"/>
            <a:ext cx="5349240" cy="1920240"/>
          </a:xfrm>
          <a:prstGeom prst="rect">
            <a:avLst/>
          </a:prstGeom>
          <a:solidFill>
            <a:srgbClr val="123A5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505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4231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winter capacity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9718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seasonal frequency or gauge reductions in the Dec–Feb trough to protect the summer-earned gains.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349240" cy="1920240"/>
          </a:xfrm>
          <a:prstGeom prst="rect">
            <a:avLst/>
          </a:prstGeom>
          <a:solidFill>
            <a:srgbClr val="123A5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4515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61772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cohort model quarterly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5166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modeled ramp assumptions with actuals as the route matures to keep the dashboard forecast current.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09360" y="4389120"/>
            <a:ext cx="5349240" cy="1920240"/>
          </a:xfrm>
          <a:prstGeom prst="rect">
            <a:avLst/>
          </a:prstGeom>
          <a:solidFill>
            <a:srgbClr val="123A5C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64515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32320" y="461772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the structural finding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583680" y="5166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to Network Planning that the current commercial plan does not close the gap within 24–36 months absent a fare or demand change.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8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SkyConnect Airlines  |  FP&amp;A  |  Companion to the Six-Model Investment Appraisal Workbook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Cohort Analysis: Route Break-Even Ramp-Up</dc:title>
  <dc:subject>PptxGenJS Presentation</dc:subject>
  <dc:creator>SkyConnect Airlines - FP&amp;A</dc:creator>
  <cp:lastModifiedBy>SkyConnect Airlines - FP&amp;A</cp:lastModifiedBy>
  <cp:revision>1</cp:revision>
  <dcterms:created xsi:type="dcterms:W3CDTF">2026-07-07T17:21:52Z</dcterms:created>
  <dcterms:modified xsi:type="dcterms:W3CDTF">2026-07-07T17:21:52Z</dcterms:modified>
</cp:coreProperties>
</file>